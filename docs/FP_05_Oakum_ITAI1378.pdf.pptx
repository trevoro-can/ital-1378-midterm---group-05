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Raleway"/>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5FAF0EC-0AD3-470A-AB18-0CD7B19ABB36}">
  <a:tblStyle styleId="{05FAF0EC-0AD3-470A-AB18-0CD7B19ABB3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11" Type="http://schemas.openxmlformats.org/officeDocument/2006/relationships/slide" Target="slides/slide5.xml"/><Relationship Id="rId22" Type="http://schemas.openxmlformats.org/officeDocument/2006/relationships/font" Target="fonts/Lato-bold.fntdata"/><Relationship Id="rId10" Type="http://schemas.openxmlformats.org/officeDocument/2006/relationships/slide" Target="slides/slide4.xml"/><Relationship Id="rId21" Type="http://schemas.openxmlformats.org/officeDocument/2006/relationships/font" Target="fonts/Lato-regular.fntdata"/><Relationship Id="rId13" Type="http://schemas.openxmlformats.org/officeDocument/2006/relationships/slide" Target="slides/slide7.xml"/><Relationship Id="rId24" Type="http://schemas.openxmlformats.org/officeDocument/2006/relationships/font" Target="fonts/Lato-boldItalic.fntdata"/><Relationship Id="rId12" Type="http://schemas.openxmlformats.org/officeDocument/2006/relationships/slide" Target="slides/slide6.xml"/><Relationship Id="rId23"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Raleway-regular.fntdata"/><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Raleway-italic.fntdata"/><Relationship Id="rId6" Type="http://schemas.openxmlformats.org/officeDocument/2006/relationships/notesMaster" Target="notesMasters/notesMaster1.xml"/><Relationship Id="rId18" Type="http://schemas.openxmlformats.org/officeDocument/2006/relationships/font" Target="fonts/Raleway-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5f2de37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5f2de37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f5f2de370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f5f2de370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5f2de370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5f2de370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5f2de370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f5f2de370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5f2de370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5f2de370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5f2de370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f5f2de370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f5f2de370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f5f2de370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5f2de370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f5f2de370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5f2de370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5f2de370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kaggle.com/datasets/biancaferreira/african-wildlif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Wildlife Photograph Analyzer</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By Trevor Oakum and Fiyinfoluwa Matilda Agbenohevi</a:t>
            </a:r>
            <a:endParaRPr/>
          </a:p>
          <a:p>
            <a:pPr indent="0" lvl="0" marL="0" rtl="0" algn="l">
              <a:spcBef>
                <a:spcPts val="0"/>
              </a:spcBef>
              <a:spcAft>
                <a:spcPts val="0"/>
              </a:spcAft>
              <a:buNone/>
            </a:pPr>
            <a:r>
              <a:rPr lang="en"/>
              <a:t>Date: 7/29/2026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n" sz="1808">
                <a:solidFill>
                  <a:schemeClr val="dk1"/>
                </a:solidFill>
              </a:rPr>
              <a:t>Many people struggle to accurately identify wildlife species due to limited knowledge and the similarities between certain animals. This can make it more difficult to educate the public, increase awareness of biodiversity, and support wildlife conservation efforts. An AI-powered animal identification system can provide quick and accurate species identification while helping users learn more about wildlife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we built:</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25000"/>
          </a:bodyPr>
          <a:lstStyle/>
          <a:p>
            <a:pPr indent="0" lvl="0" marL="0" rtl="0" algn="l">
              <a:spcBef>
                <a:spcPts val="0"/>
              </a:spcBef>
              <a:spcAft>
                <a:spcPts val="0"/>
              </a:spcAft>
              <a:buNone/>
            </a:pPr>
            <a:r>
              <a:rPr lang="en" sz="3471"/>
              <a:t>In short, this is what we built: </a:t>
            </a:r>
            <a:endParaRPr sz="3471"/>
          </a:p>
          <a:p>
            <a:pPr indent="-283704" lvl="0" marL="457200" rtl="0" algn="l">
              <a:spcBef>
                <a:spcPts val="1200"/>
              </a:spcBef>
              <a:spcAft>
                <a:spcPts val="0"/>
              </a:spcAft>
              <a:buSzPct val="100000"/>
              <a:buChar char="●"/>
            </a:pPr>
            <a:r>
              <a:rPr lang="en" sz="3471"/>
              <a:t>What does the model do: It identifies photos and classifies them as one of the four animals: Cape Buffalo, Rhino, Elephant and Zebra</a:t>
            </a:r>
            <a:endParaRPr sz="3471"/>
          </a:p>
          <a:p>
            <a:pPr indent="-283704" lvl="0" marL="457200" rtl="0" algn="l">
              <a:spcBef>
                <a:spcPts val="0"/>
              </a:spcBef>
              <a:spcAft>
                <a:spcPts val="0"/>
              </a:spcAft>
              <a:buSzPct val="100000"/>
              <a:buChar char="●"/>
            </a:pPr>
            <a:r>
              <a:rPr lang="en" sz="3471"/>
              <a:t>Process (in order)</a:t>
            </a:r>
            <a:endParaRPr sz="3471"/>
          </a:p>
          <a:p>
            <a:pPr indent="-280529" lvl="1" marL="914400" rtl="0" algn="l">
              <a:spcBef>
                <a:spcPts val="0"/>
              </a:spcBef>
              <a:spcAft>
                <a:spcPts val="0"/>
              </a:spcAft>
              <a:buSzPct val="100000"/>
              <a:buAutoNum type="alphaLcPeriod"/>
            </a:pPr>
            <a:r>
              <a:rPr lang="en" sz="3271"/>
              <a:t>Imports</a:t>
            </a:r>
            <a:endParaRPr sz="3271"/>
          </a:p>
          <a:p>
            <a:pPr indent="-280529" lvl="1" marL="914400" rtl="0" algn="l">
              <a:spcBef>
                <a:spcPts val="0"/>
              </a:spcBef>
              <a:spcAft>
                <a:spcPts val="0"/>
              </a:spcAft>
              <a:buSzPct val="100000"/>
              <a:buAutoNum type="alphaLcPeriod"/>
            </a:pPr>
            <a:r>
              <a:rPr lang="en" sz="3271"/>
              <a:t>Data Prepration and Cleanup</a:t>
            </a:r>
            <a:endParaRPr sz="3271"/>
          </a:p>
          <a:p>
            <a:pPr indent="-280529" lvl="1" marL="914400" rtl="0" algn="l">
              <a:spcBef>
                <a:spcPts val="0"/>
              </a:spcBef>
              <a:spcAft>
                <a:spcPts val="0"/>
              </a:spcAft>
              <a:buSzPct val="100000"/>
              <a:buAutoNum type="alphaLcPeriod"/>
            </a:pPr>
            <a:r>
              <a:rPr lang="en" sz="3271"/>
              <a:t>Setup</a:t>
            </a:r>
            <a:endParaRPr sz="3271"/>
          </a:p>
          <a:p>
            <a:pPr indent="-280529" lvl="1" marL="914400" rtl="0" algn="l">
              <a:spcBef>
                <a:spcPts val="0"/>
              </a:spcBef>
              <a:spcAft>
                <a:spcPts val="0"/>
              </a:spcAft>
              <a:buSzPct val="100000"/>
              <a:buAutoNum type="alphaLcPeriod"/>
            </a:pPr>
            <a:r>
              <a:rPr lang="en" sz="3271"/>
              <a:t>Build</a:t>
            </a:r>
            <a:endParaRPr sz="3271"/>
          </a:p>
          <a:p>
            <a:pPr indent="-280529" lvl="1" marL="914400" rtl="0" algn="l">
              <a:spcBef>
                <a:spcPts val="0"/>
              </a:spcBef>
              <a:spcAft>
                <a:spcPts val="0"/>
              </a:spcAft>
              <a:buSzPct val="100000"/>
              <a:buAutoNum type="alphaLcPeriod"/>
            </a:pPr>
            <a:r>
              <a:rPr lang="en" sz="3271"/>
              <a:t>Training</a:t>
            </a:r>
            <a:endParaRPr sz="3271"/>
          </a:p>
          <a:p>
            <a:pPr indent="-280529" lvl="1" marL="914400" rtl="0" algn="l">
              <a:spcBef>
                <a:spcPts val="0"/>
              </a:spcBef>
              <a:spcAft>
                <a:spcPts val="0"/>
              </a:spcAft>
              <a:buSzPct val="100000"/>
              <a:buAutoNum type="alphaLcPeriod"/>
            </a:pPr>
            <a:r>
              <a:rPr lang="en" sz="3271"/>
              <a:t>Interference</a:t>
            </a:r>
            <a:endParaRPr sz="3271"/>
          </a:p>
          <a:p>
            <a:pPr indent="-280529" lvl="1" marL="914400" rtl="0" algn="l">
              <a:spcBef>
                <a:spcPts val="0"/>
              </a:spcBef>
              <a:spcAft>
                <a:spcPts val="0"/>
              </a:spcAft>
              <a:buSzPct val="100000"/>
              <a:buAutoNum type="alphaLcPeriod"/>
            </a:pPr>
            <a:r>
              <a:rPr lang="en" sz="3271"/>
              <a:t>Results</a:t>
            </a:r>
            <a:endParaRPr sz="3271"/>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Demonstration</a:t>
            </a:r>
            <a:endParaRPr/>
          </a:p>
        </p:txBody>
      </p:sp>
      <p:sp>
        <p:nvSpPr>
          <p:cNvPr id="105" name="Google Shape;105;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a:p>
          <a:p>
            <a:pPr indent="0" lvl="0" marL="0" rtl="0" algn="l">
              <a:spcBef>
                <a:spcPts val="1200"/>
              </a:spcBef>
              <a:spcAft>
                <a:spcPts val="0"/>
              </a:spcAft>
              <a:buNone/>
            </a:pPr>
            <a:r>
              <a:rPr lang="en"/>
              <a:t>Link: [Insert Link here]</a:t>
            </a:r>
            <a:endParaRPr/>
          </a:p>
          <a:p>
            <a:pPr indent="0" lvl="0" marL="0" rtl="0" algn="l">
              <a:spcBef>
                <a:spcPts val="1200"/>
              </a:spcBef>
              <a:spcAft>
                <a:spcPts val="0"/>
              </a:spcAft>
              <a:buNone/>
            </a:pPr>
            <a:r>
              <a:rPr lang="en"/>
              <a:t>Details:</a:t>
            </a:r>
            <a:endParaRPr/>
          </a:p>
          <a:p>
            <a:pPr indent="-311150" lvl="0" marL="457200" rtl="0" algn="l">
              <a:spcBef>
                <a:spcPts val="1200"/>
              </a:spcBef>
              <a:spcAft>
                <a:spcPts val="0"/>
              </a:spcAft>
              <a:buSzPts val="1300"/>
              <a:buChar char="●"/>
            </a:pPr>
            <a:r>
              <a:rPr lang="en"/>
              <a:t>Shows Live Demonstration</a:t>
            </a:r>
            <a:endParaRPr/>
          </a:p>
          <a:p>
            <a:pPr indent="-298450" lvl="1" marL="914400" rtl="0" algn="l">
              <a:spcBef>
                <a:spcPts val="0"/>
              </a:spcBef>
              <a:spcAft>
                <a:spcPts val="0"/>
              </a:spcAft>
              <a:buSzPts val="1100"/>
              <a:buChar char="○"/>
            </a:pPr>
            <a:r>
              <a:rPr lang="en"/>
              <a:t>Displays Training/Validation Accuracy and Loss </a:t>
            </a:r>
            <a:endParaRPr/>
          </a:p>
          <a:p>
            <a:pPr indent="-311150" lvl="0" marL="457200" rtl="0" algn="l">
              <a:spcBef>
                <a:spcPts val="0"/>
              </a:spcBef>
              <a:spcAft>
                <a:spcPts val="0"/>
              </a:spcAft>
              <a:buSzPts val="1300"/>
              <a:buChar char="●"/>
            </a:pPr>
            <a:r>
              <a:rPr lang="en"/>
              <a:t>Displays Training Accuracy and Validation Issue Failure from Test-Run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Design</a:t>
            </a:r>
            <a:endParaRPr/>
          </a:p>
        </p:txBody>
      </p:sp>
      <p:sp>
        <p:nvSpPr>
          <p:cNvPr id="111" name="Google Shape;111;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CNN Used: ResNet</a:t>
            </a:r>
            <a:endParaRPr/>
          </a:p>
          <a:p>
            <a:pPr indent="-311150" lvl="0" marL="457200" rtl="0" algn="l">
              <a:spcBef>
                <a:spcPts val="0"/>
              </a:spcBef>
              <a:spcAft>
                <a:spcPts val="0"/>
              </a:spcAft>
              <a:buSzPts val="1300"/>
              <a:buChar char="●"/>
            </a:pPr>
            <a:r>
              <a:rPr lang="en"/>
              <a:t>Data Augmentation: Pytorch (torchvision.transforms, transforms.compose)</a:t>
            </a:r>
            <a:endParaRPr/>
          </a:p>
          <a:p>
            <a:pPr indent="-311150" lvl="0" marL="457200" rtl="0" algn="l">
              <a:spcBef>
                <a:spcPts val="0"/>
              </a:spcBef>
              <a:spcAft>
                <a:spcPts val="0"/>
              </a:spcAft>
              <a:buSzPts val="1300"/>
              <a:buChar char="●"/>
            </a:pPr>
            <a:r>
              <a:rPr lang="en"/>
              <a:t>1 Phase Training. This model is basic and doesn’t do anything spectacular, but it does it’s function as intended.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Origins</a:t>
            </a:r>
            <a:endParaRPr/>
          </a:p>
        </p:txBody>
      </p:sp>
      <p:sp>
        <p:nvSpPr>
          <p:cNvPr id="117" name="Google Shape;117;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Where did we collect the Data from?</a:t>
            </a:r>
            <a:endParaRPr/>
          </a:p>
          <a:p>
            <a:pPr indent="-311150" lvl="0" marL="457200" rtl="0" algn="l">
              <a:spcBef>
                <a:spcPts val="1200"/>
              </a:spcBef>
              <a:spcAft>
                <a:spcPts val="0"/>
              </a:spcAft>
              <a:buSzPts val="1300"/>
              <a:buChar char="●"/>
            </a:pPr>
            <a:r>
              <a:rPr lang="en"/>
              <a:t>Original Source for Data: </a:t>
            </a:r>
            <a:r>
              <a:rPr lang="en" u="sng">
                <a:solidFill>
                  <a:schemeClr val="hlink"/>
                </a:solidFill>
                <a:hlinkClick r:id="rId3"/>
              </a:rPr>
              <a:t>https://www.kaggle.com/datasets/biancaferreira/african-wildlife</a:t>
            </a:r>
            <a:endParaRPr/>
          </a:p>
          <a:p>
            <a:pPr indent="-311150" lvl="0" marL="457200" rtl="0" algn="l">
              <a:spcBef>
                <a:spcPts val="0"/>
              </a:spcBef>
              <a:spcAft>
                <a:spcPts val="0"/>
              </a:spcAft>
              <a:buSzPts val="1300"/>
              <a:buChar char="●"/>
            </a:pPr>
            <a:r>
              <a:rPr lang="en"/>
              <a:t>Preparation</a:t>
            </a:r>
            <a:r>
              <a:rPr lang="en"/>
              <a:t>: Data was counted, as it came pre organized</a:t>
            </a:r>
            <a:endParaRPr/>
          </a:p>
          <a:p>
            <a:pPr indent="-311150" lvl="0" marL="457200" rtl="0" algn="l">
              <a:spcBef>
                <a:spcPts val="0"/>
              </a:spcBef>
              <a:spcAft>
                <a:spcPts val="0"/>
              </a:spcAft>
              <a:buSzPts val="1300"/>
              <a:buChar char="●"/>
            </a:pPr>
            <a:r>
              <a:rPr lang="en"/>
              <a:t>Data Selection: ~1,500 photos are in the dataset</a:t>
            </a:r>
            <a:endParaRPr/>
          </a:p>
          <a:p>
            <a:pPr indent="-311150" lvl="0" marL="457200" rtl="0" algn="l">
              <a:spcBef>
                <a:spcPts val="0"/>
              </a:spcBef>
              <a:spcAft>
                <a:spcPts val="0"/>
              </a:spcAft>
              <a:buSzPts val="1300"/>
              <a:buChar char="●"/>
            </a:pPr>
            <a:r>
              <a:rPr lang="en"/>
              <a:t>Batch Size</a:t>
            </a:r>
            <a:endParaRPr/>
          </a:p>
          <a:p>
            <a:pPr indent="-298450" lvl="1" marL="914400" rtl="0" algn="l">
              <a:spcBef>
                <a:spcPts val="0"/>
              </a:spcBef>
              <a:spcAft>
                <a:spcPts val="0"/>
              </a:spcAft>
              <a:buSzPts val="1100"/>
              <a:buChar char="○"/>
            </a:pPr>
            <a:r>
              <a:rPr lang="en"/>
              <a:t>Test Runs: 32</a:t>
            </a:r>
            <a:endParaRPr/>
          </a:p>
          <a:p>
            <a:pPr indent="-298450" lvl="1" marL="914400" rtl="0" algn="l">
              <a:spcBef>
                <a:spcPts val="0"/>
              </a:spcBef>
              <a:spcAft>
                <a:spcPts val="0"/>
              </a:spcAft>
              <a:buSzPts val="1100"/>
              <a:buChar char="○"/>
            </a:pPr>
            <a:r>
              <a:rPr lang="en"/>
              <a:t>Live Demonstration: 64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Goals and Outcomes:</a:t>
            </a:r>
            <a:endParaRPr/>
          </a:p>
        </p:txBody>
      </p:sp>
      <p:graphicFrame>
        <p:nvGraphicFramePr>
          <p:cNvPr id="123" name="Google Shape;123;p19"/>
          <p:cNvGraphicFramePr/>
          <p:nvPr/>
        </p:nvGraphicFramePr>
        <p:xfrm>
          <a:off x="952500" y="2000250"/>
          <a:ext cx="3000000" cy="3000000"/>
        </p:xfrm>
        <a:graphic>
          <a:graphicData uri="http://schemas.openxmlformats.org/drawingml/2006/table">
            <a:tbl>
              <a:tblPr>
                <a:noFill/>
                <a:tableStyleId>{05FAF0EC-0AD3-470A-AB18-0CD7B19ABB36}</a:tableStyleId>
              </a:tblPr>
              <a:tblGrid>
                <a:gridCol w="2413000"/>
                <a:gridCol w="2413000"/>
                <a:gridCol w="2413000"/>
              </a:tblGrid>
              <a:tr h="381000">
                <a:tc>
                  <a:txBody>
                    <a:bodyPr/>
                    <a:lstStyle/>
                    <a:p>
                      <a:pPr indent="0" lvl="0" marL="0" rtl="0" algn="l">
                        <a:spcBef>
                          <a:spcPts val="0"/>
                        </a:spcBef>
                        <a:spcAft>
                          <a:spcPts val="0"/>
                        </a:spcAft>
                        <a:buNone/>
                      </a:pPr>
                      <a:r>
                        <a:rPr lang="en"/>
                        <a:t>Goal</a:t>
                      </a:r>
                      <a:endParaRPr/>
                    </a:p>
                  </a:txBody>
                  <a:tcPr marT="91425" marB="91425" marR="91425" marL="91425"/>
                </a:tc>
                <a:tc>
                  <a:txBody>
                    <a:bodyPr/>
                    <a:lstStyle/>
                    <a:p>
                      <a:pPr indent="0" lvl="0" marL="0" rtl="0" algn="l">
                        <a:spcBef>
                          <a:spcPts val="0"/>
                        </a:spcBef>
                        <a:spcAft>
                          <a:spcPts val="0"/>
                        </a:spcAft>
                        <a:buNone/>
                      </a:pPr>
                      <a:r>
                        <a:rPr lang="en"/>
                        <a:t>Result</a:t>
                      </a:r>
                      <a:endParaRPr/>
                    </a:p>
                  </a:txBody>
                  <a:tcPr marT="91425" marB="91425" marR="91425" marL="91425"/>
                </a:tc>
                <a:tc>
                  <a:txBody>
                    <a:bodyPr/>
                    <a:lstStyle/>
                    <a:p>
                      <a:pPr indent="0" lvl="0" marL="0" rtl="0" algn="l">
                        <a:spcBef>
                          <a:spcPts val="0"/>
                        </a:spcBef>
                        <a:spcAft>
                          <a:spcPts val="0"/>
                        </a:spcAft>
                        <a:buNone/>
                      </a:pPr>
                      <a:r>
                        <a:rPr lang="en"/>
                        <a:t>Expectation</a:t>
                      </a:r>
                      <a:endParaRPr/>
                    </a:p>
                  </a:txBody>
                  <a:tcPr marT="91425" marB="91425" marR="91425" marL="91425"/>
                </a:tc>
              </a:tr>
              <a:tr h="381000">
                <a:tc>
                  <a:txBody>
                    <a:bodyPr/>
                    <a:lstStyle/>
                    <a:p>
                      <a:pPr indent="0" lvl="0" marL="0" rtl="0" algn="l">
                        <a:spcBef>
                          <a:spcPts val="0"/>
                        </a:spcBef>
                        <a:spcAft>
                          <a:spcPts val="0"/>
                        </a:spcAft>
                        <a:buNone/>
                      </a:pPr>
                      <a:r>
                        <a:rPr lang="en"/>
                        <a:t>[The algorithm correctly analyzes the animal, and gives it a basic profile of said species. Percentage Target: 80% </a:t>
                      </a:r>
                      <a:endParaRPr/>
                    </a:p>
                  </a:txBody>
                  <a:tcPr marT="91425" marB="91425" marR="91425" marL="91425"/>
                </a:tc>
                <a:tc>
                  <a:txBody>
                    <a:bodyPr/>
                    <a:lstStyle/>
                    <a:p>
                      <a:pPr indent="0" lvl="0" marL="0" rtl="0" algn="l">
                        <a:spcBef>
                          <a:spcPts val="0"/>
                        </a:spcBef>
                        <a:spcAft>
                          <a:spcPts val="0"/>
                        </a:spcAft>
                        <a:buNone/>
                      </a:pPr>
                      <a:r>
                        <a:rPr lang="en"/>
                        <a:t>After multiple attempts, final test run demonstrates high percentage. </a:t>
                      </a:r>
                      <a:endParaRPr/>
                    </a:p>
                  </a:txBody>
                  <a:tcPr marT="91425" marB="91425" marR="91425" marL="91425"/>
                </a:tc>
                <a:tc>
                  <a:txBody>
                    <a:bodyPr/>
                    <a:lstStyle/>
                    <a:p>
                      <a:pPr indent="0" lvl="0" marL="0" rtl="0" algn="l">
                        <a:spcBef>
                          <a:spcPts val="0"/>
                        </a:spcBef>
                        <a:spcAft>
                          <a:spcPts val="0"/>
                        </a:spcAft>
                        <a:buNone/>
                      </a:pPr>
                      <a:r>
                        <a:rPr lang="en"/>
                        <a:t>Eventually Met after multiple attempts</a:t>
                      </a:r>
                      <a:endParaRPr/>
                    </a:p>
                  </a:txBody>
                  <a:tcPr marT="91425" marB="91425" marR="91425" marL="91425"/>
                </a:tc>
              </a:tr>
              <a:tr h="381000">
                <a:tc>
                  <a:txBody>
                    <a:bodyPr/>
                    <a:lstStyle/>
                    <a:p>
                      <a:pPr indent="0" lvl="0" marL="0" rtl="0" algn="l">
                        <a:spcBef>
                          <a:spcPts val="0"/>
                        </a:spcBef>
                        <a:spcAft>
                          <a:spcPts val="0"/>
                        </a:spcAft>
                        <a:buNone/>
                      </a:pPr>
                      <a:r>
                        <a:rPr lang="en"/>
                        <a:t>Secondary:[Good Performance, Attention to Detail, Little to no sign or clear indication of Bias] </a:t>
                      </a:r>
                      <a:endParaRPr/>
                    </a:p>
                  </a:txBody>
                  <a:tcPr marT="91425" marB="91425" marR="91425" marL="91425"/>
                </a:tc>
                <a:tc>
                  <a:txBody>
                    <a:bodyPr/>
                    <a:lstStyle/>
                    <a:p>
                      <a:pPr indent="0" lvl="0" marL="0" rtl="0" algn="l">
                        <a:spcBef>
                          <a:spcPts val="0"/>
                        </a:spcBef>
                        <a:spcAft>
                          <a:spcPts val="0"/>
                        </a:spcAft>
                        <a:buNone/>
                      </a:pPr>
                      <a:r>
                        <a:rPr lang="en"/>
                        <a:t>Performance is </a:t>
                      </a:r>
                      <a:r>
                        <a:rPr lang="en"/>
                        <a:t>mediocre</a:t>
                      </a:r>
                      <a:r>
                        <a:rPr lang="en"/>
                        <a:t>. </a:t>
                      </a:r>
                      <a:endParaRPr/>
                    </a:p>
                    <a:p>
                      <a:pPr indent="0" lvl="0" marL="0" rtl="0" algn="l">
                        <a:spcBef>
                          <a:spcPts val="0"/>
                        </a:spcBef>
                        <a:spcAft>
                          <a:spcPts val="0"/>
                        </a:spcAft>
                        <a:buNone/>
                      </a:pPr>
                      <a:r>
                        <a:rPr lang="en"/>
                        <a:t>Little sign of confirmation bias after multiple adjustments</a:t>
                      </a:r>
                      <a:endParaRPr/>
                    </a:p>
                  </a:txBody>
                  <a:tcPr marT="91425" marB="91425" marR="91425" marL="91425"/>
                </a:tc>
                <a:tc>
                  <a:txBody>
                    <a:bodyPr/>
                    <a:lstStyle/>
                    <a:p>
                      <a:pPr indent="0" lvl="0" marL="0" rtl="0" algn="l">
                        <a:spcBef>
                          <a:spcPts val="0"/>
                        </a:spcBef>
                        <a:spcAft>
                          <a:spcPts val="0"/>
                        </a:spcAft>
                        <a:buNone/>
                      </a:pPr>
                      <a:r>
                        <a:rPr lang="en"/>
                        <a:t>Met. The performance is of concern, but the confirmation bias is non-existent, and exceeded expectations</a:t>
                      </a:r>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Changed</a:t>
            </a:r>
            <a:endParaRPr/>
          </a:p>
        </p:txBody>
      </p:sp>
      <p:graphicFrame>
        <p:nvGraphicFramePr>
          <p:cNvPr id="129" name="Google Shape;129;p20"/>
          <p:cNvGraphicFramePr/>
          <p:nvPr/>
        </p:nvGraphicFramePr>
        <p:xfrm>
          <a:off x="952500" y="2202325"/>
          <a:ext cx="3000000" cy="3000000"/>
        </p:xfrm>
        <a:graphic>
          <a:graphicData uri="http://schemas.openxmlformats.org/drawingml/2006/table">
            <a:tbl>
              <a:tblPr>
                <a:noFill/>
                <a:tableStyleId>{05FAF0EC-0AD3-470A-AB18-0CD7B19ABB36}</a:tableStyleId>
              </a:tblPr>
              <a:tblGrid>
                <a:gridCol w="2413000"/>
                <a:gridCol w="2413000"/>
                <a:gridCol w="2413000"/>
              </a:tblGrid>
              <a:tr h="381000">
                <a:tc>
                  <a:txBody>
                    <a:bodyPr/>
                    <a:lstStyle/>
                    <a:p>
                      <a:pPr indent="0" lvl="0" marL="0" rtl="0" algn="l">
                        <a:spcBef>
                          <a:spcPts val="0"/>
                        </a:spcBef>
                        <a:spcAft>
                          <a:spcPts val="0"/>
                        </a:spcAft>
                        <a:buNone/>
                      </a:pPr>
                      <a:r>
                        <a:rPr lang="en"/>
                        <a:t>Original</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Change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Reason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Shooting for Detection/Classification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Changed to building a Model for classification only</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Enormous Data set, group felt best to instead do classification and make it work as efficiently as possible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lang="en">
                          <a:solidFill>
                            <a:schemeClr val="dk1"/>
                          </a:solidFill>
                        </a:rPr>
                        <a:t>Using Model as YOLO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Model Changed to ResNet</a:t>
                      </a:r>
                      <a:endParaRPr>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Due to pivoting from Detection, YOLO was deemed useless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a:t>
            </a:r>
            <a:endParaRPr/>
          </a:p>
        </p:txBody>
      </p:sp>
      <p:sp>
        <p:nvSpPr>
          <p:cNvPr id="135" name="Google Shape;135;p2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Although not a complete list, these are challenges we faced that created many hurdles:</a:t>
            </a:r>
            <a:endParaRPr/>
          </a:p>
          <a:p>
            <a:pPr indent="-311150" lvl="0" marL="457200" rtl="0" algn="l">
              <a:spcBef>
                <a:spcPts val="1200"/>
              </a:spcBef>
              <a:spcAft>
                <a:spcPts val="0"/>
              </a:spcAft>
              <a:buSzPts val="1300"/>
              <a:buChar char="●"/>
            </a:pPr>
            <a:r>
              <a:rPr lang="en"/>
              <a:t>Large Dataset: This was an issue because getting the model to work as originally intended caused an almost complete </a:t>
            </a:r>
            <a:r>
              <a:rPr lang="en"/>
              <a:t>pivot in such a short amount of time.</a:t>
            </a:r>
            <a:endParaRPr/>
          </a:p>
          <a:p>
            <a:pPr indent="-311150" lvl="0" marL="457200" rtl="0" algn="l">
              <a:spcBef>
                <a:spcPts val="0"/>
              </a:spcBef>
              <a:spcAft>
                <a:spcPts val="0"/>
              </a:spcAft>
              <a:buSzPts val="1300"/>
              <a:buChar char="●"/>
            </a:pPr>
            <a:r>
              <a:rPr lang="en"/>
              <a:t>“Bad” Data: This data wasn’t bad, but analyzing it would have caused issues. We scrapped over ~1,500 files due to them being Text files</a:t>
            </a:r>
            <a:endParaRPr/>
          </a:p>
          <a:p>
            <a:pPr indent="-311150" lvl="0" marL="457200" rtl="0" algn="l">
              <a:spcBef>
                <a:spcPts val="0"/>
              </a:spcBef>
              <a:spcAft>
                <a:spcPts val="0"/>
              </a:spcAft>
              <a:buSzPts val="1300"/>
              <a:buChar char="●"/>
            </a:pPr>
            <a:r>
              <a:rPr lang="en"/>
              <a:t>Data not intended for this use: Because we pivoted, this data being exclusively for Detection only, we had to build an entire system from scratch that could make it work.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Reflection:</a:t>
            </a:r>
            <a:endParaRPr/>
          </a:p>
        </p:txBody>
      </p:sp>
      <p:sp>
        <p:nvSpPr>
          <p:cNvPr id="141" name="Google Shape;141;p2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Key </a:t>
            </a:r>
            <a:r>
              <a:rPr lang="en"/>
              <a:t>takeaways</a:t>
            </a:r>
            <a:r>
              <a:rPr lang="en"/>
              <a:t> we have learned:</a:t>
            </a:r>
            <a:endParaRPr/>
          </a:p>
          <a:p>
            <a:pPr indent="-304959" lvl="0" marL="457200" rtl="0" algn="l">
              <a:spcBef>
                <a:spcPts val="1200"/>
              </a:spcBef>
              <a:spcAft>
                <a:spcPts val="0"/>
              </a:spcAft>
              <a:buSzPct val="100000"/>
              <a:buChar char="●"/>
            </a:pPr>
            <a:r>
              <a:rPr lang="en"/>
              <a:t> Some of Engineering’s greatest achievements  successes we’re failed countless times before they </a:t>
            </a:r>
            <a:r>
              <a:rPr lang="en"/>
              <a:t>triumph</a:t>
            </a:r>
            <a:r>
              <a:rPr lang="en"/>
              <a:t> over other models. This model failed many times, and it’s not perfect. This model showed us that we’re never going to make an excellent model the first, or the firth. </a:t>
            </a:r>
            <a:endParaRPr/>
          </a:p>
          <a:p>
            <a:pPr indent="-304959" lvl="0" marL="457200" rtl="0" algn="l">
              <a:spcBef>
                <a:spcPts val="0"/>
              </a:spcBef>
              <a:spcAft>
                <a:spcPts val="0"/>
              </a:spcAft>
              <a:buSzPct val="100000"/>
              <a:buChar char="●"/>
            </a:pPr>
            <a:r>
              <a:rPr lang="en"/>
              <a:t>This model showed us Engineering has growth. One never stops true growth, </a:t>
            </a:r>
            <a:endParaRPr/>
          </a:p>
          <a:p>
            <a:pPr indent="-304959" lvl="0" marL="457200" rtl="0" algn="l">
              <a:spcBef>
                <a:spcPts val="0"/>
              </a:spcBef>
              <a:spcAft>
                <a:spcPts val="0"/>
              </a:spcAft>
              <a:buSzPct val="100000"/>
              <a:buChar char="●"/>
            </a:pPr>
            <a:r>
              <a:rPr lang="en"/>
              <a:t>When working in a team, coordination is key. It’s the difference between a great loss and something that could be great.</a:t>
            </a:r>
            <a:endParaRPr/>
          </a:p>
          <a:p>
            <a:pPr indent="0" lvl="0" marL="0" rtl="0" algn="l">
              <a:spcBef>
                <a:spcPts val="1200"/>
              </a:spcBef>
              <a:spcAft>
                <a:spcPts val="0"/>
              </a:spcAft>
              <a:buNone/>
            </a:pPr>
            <a:r>
              <a:rPr lang="en"/>
              <a:t>Next Steps: </a:t>
            </a:r>
            <a:endParaRPr/>
          </a:p>
          <a:p>
            <a:pPr indent="-304959" lvl="0" marL="457200" rtl="0" algn="l">
              <a:spcBef>
                <a:spcPts val="1200"/>
              </a:spcBef>
              <a:spcAft>
                <a:spcPts val="0"/>
              </a:spcAft>
              <a:buSzPct val="100000"/>
              <a:buChar char="●"/>
            </a:pPr>
            <a:r>
              <a:rPr lang="en"/>
              <a:t>We build from what we have. We have a model, it just needs tweaking.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